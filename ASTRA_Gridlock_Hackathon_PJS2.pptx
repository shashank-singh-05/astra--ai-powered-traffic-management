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Index</c:v>
                </c:pt>
              </c:strCache>
            </c:strRef>
          </c:tx>
          <c:spPr>
            <a:solidFill>
              <a:srgbClr val="B886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Bellary Road</c:v>
                  </c:pt>
                  <c:pt idx="1">
                    <c:v>ORR East</c:v>
                  </c:pt>
                  <c:pt idx="2">
                    <c:v>Hosur Road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DA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Congestion Risk</c:v>
                </c:pt>
              </c:strCache>
            </c:strRef>
          </c:tx>
          <c:spPr>
            <a:solidFill>
              <a:srgbClr val="D8423D"/>
            </a:solidFill>
            <a:ln w="38100" cap="flat">
              <a:solidFill>
                <a:srgbClr val="D842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71C2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8423D"/>
              </a:solidFill>
              <a:ln w="9525" cap="flat">
                <a:solidFill>
                  <a:srgbClr val="D842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4:00 PM</c:v>
                  </c:pt>
                  <c:pt idx="1">
                    <c:v>4:30 PM</c:v>
                  </c:pt>
                  <c:pt idx="2">
                    <c:v>5:00 PM</c:v>
                  </c:pt>
                  <c:pt idx="3">
                    <c:v>5:20 PM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74</c:v>
                </c:pt>
                <c:pt idx="3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171C2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7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A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57200"/>
            <a:ext cx="1490472" cy="917372"/>
          </a:xfrm>
          <a:prstGeom prst="roundRect">
            <a:avLst>
              <a:gd name="adj" fmla="val 5981"/>
            </a:avLst>
          </a:prstGeom>
          <a:solidFill>
            <a:srgbClr val="FFFFFF"/>
          </a:solidFill>
          <a:ln/>
        </p:spPr>
      </p:sp>
      <p:pic>
        <p:nvPicPr>
          <p:cNvPr id="3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234440" cy="734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 HACKATHON   ·   TEAM PJSS   ·   VIT BHOPAL UNIVERSITY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4360" y="2743200"/>
            <a:ext cx="8686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ASTRA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Strategic Traffic Response &amp; Analysis Platform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908792" cy="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Sambhav Jain   ·   Jay Modha   ·   Priyanshu Chourasiya   ·   Shashank Singh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monitoring to predictive, prescriptive command decisions for Bengaluru Traffic Police.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Bengaluru's Traffic Is Disrupted Faster Than Police Can React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6" name="Image 1" descr="images/FaPeopleArrows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90" y="2057400"/>
            <a:ext cx="438912" cy="438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606040"/>
            <a:ext cx="1726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Rallies</a:t>
            </a:r>
            <a:endParaRPr lang="en-US" sz="1150" dirty="0"/>
          </a:p>
        </p:txBody>
      </p:sp>
      <p:pic>
        <p:nvPicPr>
          <p:cNvPr id="8" name="Image 2" descr="images/FaBuilding_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822" y="2057400"/>
            <a:ext cx="438912" cy="438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03932" y="2606040"/>
            <a:ext cx="1726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Festivals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2458212" y="2011680"/>
            <a:ext cx="0" cy="10058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1" name="Image 3" descr="images/FaFlagCheckered_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54" y="2057400"/>
            <a:ext cx="438912" cy="438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2064" y="2606040"/>
            <a:ext cx="1726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Sporting Events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276344" y="2011680"/>
            <a:ext cx="0" cy="10058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4" name="Image 4" descr="images/FaUsers_mut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086" y="2057400"/>
            <a:ext cx="438912" cy="43891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40196" y="2606040"/>
            <a:ext cx="1726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Movements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6094476" y="2011680"/>
            <a:ext cx="0" cy="10058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7" name="Image 5" descr="images/FaRoad_mut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2218" y="2057400"/>
            <a:ext cx="438912" cy="43891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958328" y="2606040"/>
            <a:ext cx="1726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Construction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7912608" y="2011680"/>
            <a:ext cx="0" cy="10058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20" name="Image 6" descr="images/FaCarCrash_mut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0350" y="2057400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776460" y="2606040"/>
            <a:ext cx="1726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&amp; Incidents</a:t>
            </a:r>
            <a:endParaRPr lang="en-US" sz="1150" dirty="0"/>
          </a:p>
        </p:txBody>
      </p:sp>
      <p:sp>
        <p:nvSpPr>
          <p:cNvPr id="22" name="Shape 13"/>
          <p:cNvSpPr/>
          <p:nvPr/>
        </p:nvSpPr>
        <p:spPr>
          <a:xfrm>
            <a:off x="9730740" y="2011680"/>
            <a:ext cx="0" cy="10058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640080" y="342900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TODAY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640080" y="40690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impact is difficult to estimate beforehand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deployment relies heavily on officer experience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ability to prioritize multiple simultaneous incidents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6035040" y="40690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post-event learning mechanism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interventions often worsen congestion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intelligent, explainable decision-support systems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5760720" y="4069080"/>
            <a:ext cx="0" cy="201168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0736" y="320040"/>
            <a:ext cx="1307592" cy="808558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/>
        </p:spPr>
      </p:sp>
      <p:pic>
        <p:nvPicPr>
          <p:cNvPr id="3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Command Center. Three Questions Answered.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helps Bengaluru Traffic Police move from guesswork to a predictive, prescriptive decision-making system.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908792" cy="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468880"/>
            <a:ext cx="327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be done?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deployment strategy — officers, barricades, diversions.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76344" y="2468880"/>
            <a:ext cx="327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4276344" y="342900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it be done?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276344" y="425196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intervention timing, before congestion turns critical.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93464" y="2468880"/>
            <a:ext cx="0" cy="310896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12608" y="2468880"/>
            <a:ext cx="327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000" dirty="0"/>
          </a:p>
        </p:txBody>
      </p:sp>
      <p:sp>
        <p:nvSpPr>
          <p:cNvPr id="16" name="Text 13"/>
          <p:cNvSpPr/>
          <p:nvPr/>
        </p:nvSpPr>
        <p:spPr>
          <a:xfrm>
            <a:off x="7912608" y="342900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attention focus?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912608" y="425196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incident and junction identification across the city.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29728" y="2468880"/>
            <a:ext cx="0" cy="310896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ASTRA: An AI Decision Intelligence Engine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is an AI-driven Traffic Decision Intelligence Platform that predicts event impact, recommends operational strategy, prioritizes police attention, identifies intervention windows, and continuously learns from past incidents — built specifically for the Bengaluru Traffic Command Center.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7" name="Image 1" descr="images/Fa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346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47472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Risk Scoring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4069080"/>
            <a:ext cx="2361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the cascading severity of an event as it unfolds.</a:t>
            </a:r>
            <a:endParaRPr lang="en-US" sz="1150" dirty="0"/>
          </a:p>
        </p:txBody>
      </p:sp>
      <p:pic>
        <p:nvPicPr>
          <p:cNvPr id="10" name="Image 2" descr="images/Fa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278" y="28346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67278" y="347472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Optimization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367278" y="4069080"/>
            <a:ext cx="2361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generates A/B/C deployment strategies — officers, barricades, diversions.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138678" y="2834640"/>
            <a:ext cx="0" cy="228600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4" name="Image 3" descr="images/Fa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8346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4476" y="347472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Windows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094476" y="4069080"/>
            <a:ext cx="2361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critical time threshold before an incident turns into gridlock.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865876" y="2834640"/>
            <a:ext cx="0" cy="228600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8" name="Image 4" descr="images/FaRobo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674" y="283464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21674" y="3474720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Copilot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821674" y="4069080"/>
            <a:ext cx="2361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assistant lets operators query traffic data seamlessly.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593074" y="2834640"/>
            <a:ext cx="0" cy="228600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Intelligence Layers, One Pipeline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96596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828800" y="19659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Intelligence Engine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577840" y="1965960"/>
            <a:ext cx="5989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incoming event data (type, cause, corridor, zone, junction, closures, duration) to output a Severity Score, Congestion Risk Score, and Impact Category.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8328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828800" y="33832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 Stress Prediction Engine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577840" y="3383280"/>
            <a:ext cx="5989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which Bengaluru corridors face the highest operational pressure — ranked Corridor Stress Index with predicted impact duration.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57200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80060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4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828800" y="48006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Junction Risk Ranking System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577840" y="4800600"/>
            <a:ext cx="5989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junctions most likely to face pressure, enabling focused deployment instead of city-wide overreaction.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Intelligence Engine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analyze incoming event information and predict traffic impact.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Cause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269748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Closure Requirement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Duration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Priority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Event Patterns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2286000"/>
            <a:ext cx="0" cy="393192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2697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Severity Score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Risk Score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Category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0760" y="4041648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06640" y="4041648"/>
            <a:ext cx="118872" cy="1188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732520" y="4041648"/>
            <a:ext cx="118872" cy="118872"/>
          </a:xfrm>
          <a:prstGeom prst="ellipse">
            <a:avLst/>
          </a:prstGeom>
          <a:solidFill>
            <a:srgbClr val="C45A00"/>
          </a:solidFill>
          <a:ln/>
        </p:spPr>
      </p:sp>
      <p:sp>
        <p:nvSpPr>
          <p:cNvPr id="18" name="Text 15"/>
          <p:cNvSpPr/>
          <p:nvPr/>
        </p:nvSpPr>
        <p:spPr>
          <a:xfrm>
            <a:off x="89154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058400" y="4041648"/>
            <a:ext cx="118872" cy="118872"/>
          </a:xfrm>
          <a:prstGeom prst="ellipse">
            <a:avLst/>
          </a:prstGeom>
          <a:solidFill>
            <a:srgbClr val="D8423D"/>
          </a:solidFill>
          <a:ln/>
        </p:spPr>
      </p:sp>
      <p:sp>
        <p:nvSpPr>
          <p:cNvPr id="20" name="Text 17"/>
          <p:cNvSpPr/>
          <p:nvPr/>
        </p:nvSpPr>
        <p:spPr>
          <a:xfrm>
            <a:off x="1024128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80760" y="4572000"/>
            <a:ext cx="5074920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drives a different response playbook and resourcing tier in the Decision Intelligence Engine.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&amp;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 Stress &amp; Junction Risk Ranking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Stress Index — Example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24028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46520" y="1828800"/>
            <a:ext cx="0" cy="438912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7665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Junction Risk Ranking System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766560" y="2286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junctions most likely to experience traffic pressure.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766560" y="2926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impacted junctions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per junction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ranking for deployment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766560" y="4434840"/>
            <a:ext cx="4572000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66560" y="4617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focused deployment instead of city-wide overreaction — officers go exactly where pressure is predicted to build.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Decision Intelligence Engine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provide information; they don't recommend actions. ASTRA evaluates multiple operational strategies and predicts their outcomes.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7744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barricades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Risk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389120"/>
            <a:ext cx="3270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84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pPr indent="0" marL="0">
              <a:buNone/>
            </a:pPr>
            <a:r>
              <a:rPr lang="en-US" sz="2400" b="1" dirty="0">
                <a:solidFill>
                  <a:srgbClr val="D84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4276344" y="237744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B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276344" y="288036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officers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barricades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76344" y="416052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Risk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76344" y="4389120"/>
            <a:ext cx="3270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5000" dirty="0"/>
          </a:p>
        </p:txBody>
      </p:sp>
      <p:sp>
        <p:nvSpPr>
          <p:cNvPr id="15" name="Shape 12"/>
          <p:cNvSpPr/>
          <p:nvPr/>
        </p:nvSpPr>
        <p:spPr>
          <a:xfrm>
            <a:off x="4047744" y="2286000"/>
            <a:ext cx="0" cy="301752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12608" y="233172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912608" y="2606040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C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912608" y="310896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officers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barricades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diversion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912608" y="4160520"/>
            <a:ext cx="327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Risk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12608" y="4389120"/>
            <a:ext cx="3270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pPr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5000" dirty="0"/>
          </a:p>
        </p:txBody>
      </p:sp>
      <p:sp>
        <p:nvSpPr>
          <p:cNvPr id="21" name="Shape 18"/>
          <p:cNvSpPr/>
          <p:nvPr/>
        </p:nvSpPr>
        <p:spPr>
          <a:xfrm>
            <a:off x="7684008" y="2286000"/>
            <a:ext cx="0" cy="301752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544068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623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explains why each recommendation was chosen — full reasoning, not a black-box score.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Window Engine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interventions occur after congestion begins. ASTRA predicts the best time window for intervention — before it's too late.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640080" y="2331720"/>
          <a:ext cx="1090879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44068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4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resources before 4:40 PM — intervening early shifts this event from Critical to Low risk.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3 &amp;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Attention Optimizer &amp; Traffic Memory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6" name="Image 1" descr="images/FaBulls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Attention Optimizer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4008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centers face multiple simultaneous incidents — human operators struggle to prioritize. ASTRA ranks incidents by: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0080" y="32918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importance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potential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impact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5074920"/>
            <a:ext cx="4937760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5257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live Priority Queue for the Command Center.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0760" y="1828800"/>
            <a:ext cx="0" cy="411480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3" name="Image 2" descr="images/FaHistor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Memory System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0080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from previous events are often lost. ASTRA creates a digital memory of traffic operations, capturing for every event: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00800" y="3383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were taken?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0" y="5257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recommendations grow smarter with every operational cycle.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Copilot &amp; Explainable Recommendations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6" name="Image 1" descr="images/FaComment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438912" cy="438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9659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Traffic Operations Copilot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0080" y="2560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interact in natural language — the AI explains every recommendation in plain, human-readable terms.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3291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we do if attendance doubles?”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120640" cy="0"/>
          </a:xfrm>
          <a:prstGeom prst="line">
            <a:avLst/>
          </a:prstGeom>
          <a:noFill/>
          <a:ln w="6350">
            <a:solidFill>
              <a:srgbClr val="DADE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3749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corridor is most vulnerable today?”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5120640" cy="0"/>
          </a:xfrm>
          <a:prstGeom prst="line">
            <a:avLst/>
          </a:prstGeom>
          <a:noFill/>
          <a:ln w="6350">
            <a:solidFill>
              <a:srgbClr val="DADE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event marked high risk?”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5120640" cy="0"/>
          </a:xfrm>
          <a:prstGeom prst="line">
            <a:avLst/>
          </a:prstGeom>
          <a:noFill/>
          <a:ln w="6350">
            <a:solidFill>
              <a:srgbClr val="DADE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similar historical incidents.”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5029200"/>
            <a:ext cx="5120640" cy="0"/>
          </a:xfrm>
          <a:prstGeom prst="line">
            <a:avLst/>
          </a:prstGeom>
          <a:noFill/>
          <a:ln w="6350">
            <a:solidFill>
              <a:srgbClr val="DADE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1828800"/>
            <a:ext cx="0" cy="429768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— Every Prediction Comes With Reasoning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40080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 </a:t>
            </a:r>
            <a:pPr indent="0" marL="0">
              <a:buNone/>
            </a:pPr>
            <a:r>
              <a:rPr lang="en-US" sz="2600" b="1" dirty="0">
                <a:solidFill>
                  <a:srgbClr val="D84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Closure Impact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033272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00800" y="3337560"/>
            <a:ext cx="4846320" cy="54864"/>
          </a:xfrm>
          <a:prstGeom prst="rect">
            <a:avLst/>
          </a:prstGeom>
          <a:solidFill>
            <a:srgbClr val="DADEEC"/>
          </a:solidFill>
          <a:ln/>
        </p:spPr>
      </p:sp>
      <p:sp>
        <p:nvSpPr>
          <p:cNvPr id="23" name="Shape 19"/>
          <p:cNvSpPr/>
          <p:nvPr/>
        </p:nvSpPr>
        <p:spPr>
          <a:xfrm>
            <a:off x="6400800" y="3337560"/>
            <a:ext cx="484632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0" y="3630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 Impact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0332720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0" y="3904488"/>
            <a:ext cx="4846320" cy="54864"/>
          </a:xfrm>
          <a:prstGeom prst="rect">
            <a:avLst/>
          </a:prstGeom>
          <a:solidFill>
            <a:srgbClr val="DADEEC"/>
          </a:solidFill>
          <a:ln/>
        </p:spPr>
      </p:sp>
      <p:sp>
        <p:nvSpPr>
          <p:cNvPr id="27" name="Shape 23"/>
          <p:cNvSpPr/>
          <p:nvPr/>
        </p:nvSpPr>
        <p:spPr>
          <a:xfrm>
            <a:off x="6400800" y="3904488"/>
            <a:ext cx="3461657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4"/>
          <p:cNvSpPr/>
          <p:nvPr/>
        </p:nvSpPr>
        <p:spPr>
          <a:xfrm>
            <a:off x="6400800" y="4197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Pattern Impact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10332720" y="4197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400800" y="4471416"/>
            <a:ext cx="4846320" cy="54864"/>
          </a:xfrm>
          <a:prstGeom prst="rect">
            <a:avLst/>
          </a:prstGeom>
          <a:solidFill>
            <a:srgbClr val="DADEEC"/>
          </a:solidFill>
          <a:ln/>
        </p:spPr>
      </p:sp>
      <p:sp>
        <p:nvSpPr>
          <p:cNvPr id="31" name="Shape 27"/>
          <p:cNvSpPr/>
          <p:nvPr/>
        </p:nvSpPr>
        <p:spPr>
          <a:xfrm>
            <a:off x="6400800" y="4471416"/>
            <a:ext cx="2769326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28"/>
          <p:cNvSpPr/>
          <p:nvPr/>
        </p:nvSpPr>
        <p:spPr>
          <a:xfrm>
            <a:off x="640080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Stress Impact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0332720" y="4764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400800" y="5038344"/>
            <a:ext cx="4846320" cy="54864"/>
          </a:xfrm>
          <a:prstGeom prst="rect">
            <a:avLst/>
          </a:prstGeom>
          <a:solidFill>
            <a:srgbClr val="DADEEC"/>
          </a:solidFill>
          <a:ln/>
        </p:spPr>
      </p:sp>
      <p:sp>
        <p:nvSpPr>
          <p:cNvPr id="35" name="Shape 31"/>
          <p:cNvSpPr/>
          <p:nvPr/>
        </p:nvSpPr>
        <p:spPr>
          <a:xfrm>
            <a:off x="6400800" y="5038344"/>
            <a:ext cx="2769326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6" name="Shape 32"/>
          <p:cNvSpPr/>
          <p:nvPr/>
        </p:nvSpPr>
        <p:spPr>
          <a:xfrm>
            <a:off x="6400800" y="5468112"/>
            <a:ext cx="4846320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increases trust and transparency for officers acting on AI guidance.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Technology Stack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6" name="Image 1" descr="images/Fa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542032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Impact Prediction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2971800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Random Forest · LightGBM</a:t>
            </a:r>
            <a:endParaRPr lang="en-US" sz="1050" dirty="0"/>
          </a:p>
        </p:txBody>
      </p:sp>
      <p:pic>
        <p:nvPicPr>
          <p:cNvPr id="9" name="Image 2" descr="images/Fa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278" y="1965960"/>
            <a:ext cx="420624" cy="420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7278" y="2542032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367278" y="2971800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weighted scoring model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138678" y="1965960"/>
            <a:ext cx="0" cy="150876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3" name="Image 3" descr="images/FaSearchLocatio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965960"/>
            <a:ext cx="420624" cy="4206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4476" y="2542032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Event Retrieval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094476" y="2971800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similarity search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865876" y="1965960"/>
            <a:ext cx="0" cy="150876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7" name="Image 4" descr="images/Fa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674" y="1965960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21674" y="2542032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8821674" y="2971800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hybrid, fully explainable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8593074" y="1965960"/>
            <a:ext cx="0" cy="150876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40080" y="370332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40080" y="43159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TypeScript · Tailwind CSS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33756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337560" y="43159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03504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035040" y="43159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 · Pandas · NumPy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73252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732520" y="43159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/ Llama 3 · RAG retrieval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4008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40080" y="5367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333756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337560" y="5367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Recharts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03504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035040" y="5367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AWS / Azure / GCP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LAW ENFORCEMENT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Architecture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6" name="Image 1" descr="images/FaUser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542032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3063240"/>
            <a:ext cx="23614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Officer, Supervisor, Command Center Operator, Administrator tiers — users only access authorized information.</a:t>
            </a:r>
            <a:endParaRPr lang="en-US" sz="1100" dirty="0"/>
          </a:p>
        </p:txBody>
      </p:sp>
      <p:pic>
        <p:nvPicPr>
          <p:cNvPr id="9" name="Image 2" descr="images/FaFileAl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278" y="1965960"/>
            <a:ext cx="420624" cy="420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7278" y="2542032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367278" y="3063240"/>
            <a:ext cx="23614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recommendation approval, resource change, and strategy modification is recorded for accountability.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138678" y="1965960"/>
            <a:ext cx="0" cy="23774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3" name="Image 3" descr="images/Fa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965960"/>
            <a:ext cx="420624" cy="4206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4476" y="2542032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094476" y="3063240"/>
            <a:ext cx="23614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transit, AES-256 at rest, plus multi-factor authentication and session management.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865876" y="1965960"/>
            <a:ext cx="0" cy="23774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pic>
        <p:nvPicPr>
          <p:cNvPr id="17" name="Image 4" descr="images/FaShieldA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674" y="1965960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21674" y="2542032"/>
            <a:ext cx="2361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Controls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8821674" y="3063240"/>
            <a:ext cx="23614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against prompt injection, unauthorized AI queries, data leakage, and model manipulation.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593074" y="1965960"/>
            <a:ext cx="0" cy="237744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40080" y="5074920"/>
            <a:ext cx="10908792" cy="0"/>
          </a:xfrm>
          <a:prstGeom prst="line">
            <a:avLst/>
          </a:prstGeom>
          <a:noFill/>
          <a:ln w="9525">
            <a:solidFill>
              <a:srgbClr val="DADEE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" y="5257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Integrity:  </a:t>
            </a:r>
            <a:pPr indent="0" marL="0"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cannot directly execute actions. Human approval remains mandatory — preventing automated operational failures.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0736" y="320040"/>
            <a:ext cx="1307592" cy="808558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/>
        </p:spPr>
      </p:sp>
      <p:pic>
        <p:nvPicPr>
          <p:cNvPr id="3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411480"/>
            <a:ext cx="1051560" cy="625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for Bengaluru Traffic Police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908792" cy="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121408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121408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response times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55280" y="2121408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990088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situational awareness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2990088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congestion escalation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55280" y="2990088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organizational learning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10908792" cy="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solutions answer “What is happening?”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6177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ASTRA answers what should we do, when should we do it, and where should we focus.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008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 AI command center combining predictive analytics, decision intelligence, generative AI, cybersecurity, and operational learning.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AI-Powered Strategic Traffic Response &amp; Analysis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0660" y="1463040"/>
            <a:ext cx="1627632" cy="998982"/>
          </a:xfrm>
          <a:prstGeom prst="roundRect">
            <a:avLst>
              <a:gd name="adj" fmla="val 5492"/>
            </a:avLst>
          </a:prstGeom>
          <a:solidFill>
            <a:srgbClr val="FFFFFF"/>
          </a:solidFill>
          <a:ln/>
        </p:spPr>
      </p:sp>
      <p:pic>
        <p:nvPicPr>
          <p:cNvPr id="3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1554480"/>
            <a:ext cx="1371600" cy="816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089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— Solving Bengaluru's Traffic, One Prediction Ahead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22876" y="4526280"/>
            <a:ext cx="2743200" cy="0"/>
          </a:xfrm>
          <a:prstGeom prst="line">
            <a:avLst/>
          </a:prstGeom>
          <a:noFill/>
          <a:ln w="12700">
            <a:solidFill>
              <a:srgbClr val="2A37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PJSS  ·  Sambhav Jain  ·  Jay Modha  ·  Priyanshu Chourasiya  ·  Shashank Singh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Bhopal University  ·  Flipkart Gridlock Hackathon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 - AI Powered Strategic Traffic Response &amp; Analysis</dc:title>
  <dc:subject>PptxGenJS Presentation</dc:subject>
  <dc:creator>Team PJSS</dc:creator>
  <cp:lastModifiedBy>Team PJSS</cp:lastModifiedBy>
  <cp:revision>1</cp:revision>
  <dcterms:created xsi:type="dcterms:W3CDTF">2026-06-21T08:18:14Z</dcterms:created>
  <dcterms:modified xsi:type="dcterms:W3CDTF">2026-06-21T08:18:14Z</dcterms:modified>
</cp:coreProperties>
</file>